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E2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E2A"/>
                </a:solidFill>
                <a:latin typeface="Calibri"/>
              </a:rPr>
              <a:t>Risk Category Distribution (n=2,000)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4B59F"/>
              </a:solidFill>
              <a:effectLst/>
            </c:spPr>
          </c:dPt>
          <c:dPt>
            <c:idx val="1"/>
            <c:bubble3D val="0"/>
            <c:spPr>
              <a:solidFill>
                <a:srgbClr val="2F6F68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B85B4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2E2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2E2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2E2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2E2A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Good</c:v>
                </c:pt>
                <c:pt idx="1">
                  <c:v>Mild Concern</c:v>
                </c:pt>
                <c:pt idx="2">
                  <c:v>Moderate Concern</c:v>
                </c:pt>
                <c:pt idx="3">
                  <c:v>High Concern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258</c:v>
                </c:pt>
                <c:pt idx="1">
                  <c:v>1117</c:v>
                </c:pt>
                <c:pt idx="2">
                  <c:v>547</c:v>
                </c:pt>
                <c:pt idx="3">
                  <c:v>78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Modality Weighting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441"/>
              </a:solidFill>
              <a:effectLst/>
            </c:spPr>
          </c:dPt>
          <c:dPt>
            <c:idx val="1"/>
            <c:bubble3D val="0"/>
            <c:spPr>
              <a:solidFill>
                <a:srgbClr val="84B59F"/>
              </a:solidFill>
              <a:effectLst/>
            </c:spPr>
          </c:dPt>
          <c:dPt>
            <c:idx val="2"/>
            <c:bubble3D val="0"/>
            <c:spPr>
              <a:solidFill>
                <a:srgbClr val="2F6F6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Questionnaire</c:v>
                </c:pt>
                <c:pt idx="1">
                  <c:v>Facial Signals</c:v>
                </c:pt>
                <c:pt idx="2">
                  <c:v>Speech Signals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25</c:v>
                </c:pt>
                <c:pt idx="2">
                  <c:v>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/ Score</c:v>
                </c:pt>
              </c:strCache>
            </c:strRef>
          </c:tx>
          <c:spPr>
            <a:solidFill>
              <a:srgbClr val="2F6F6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E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Facial Emotion
Model (Acc.)</c:v>
                  </c:pt>
                  <c:pt idx="1">
                    <c:v>Speech Emotion
Model (Acc.)</c:v>
                  </c:pt>
                  <c:pt idx="2">
                    <c:v>Fusion Score
Model (R²)</c:v>
                  </c:pt>
                  <c:pt idx="3">
                    <c:v>Risk Category
(Acc.)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</c:v>
                </c:pt>
                <c:pt idx="1">
                  <c:v>0.75</c:v>
                </c:pt>
                <c:pt idx="2">
                  <c:v>0.79</c:v>
                </c:pt>
                <c:pt idx="3">
                  <c:v>0.79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F2E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E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E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2F6F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206240"/>
            <a:ext cx="3108960" cy="3108960"/>
          </a:xfrm>
          <a:prstGeom prst="ellipse">
            <a:avLst/>
          </a:prstGeom>
          <a:solidFill>
            <a:srgbClr val="D9A441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84B59F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TALK2MIND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C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AI-Based Mental Well-Being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C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and Support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4782861"/>
            <a:ext cx="419527" cy="4195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4736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cues  ·  Voice cues  ·  Self-reflection — combined into one gentle score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Concept-to-Prototype Project Report  ·  Data Vidwan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92240" cy="4846320"/>
          </a:xfrm>
          <a:prstGeom prst="rect">
            <a:avLst>
              <a:gd name="adj" fmla="val 2264"/>
            </a:avLst>
          </a:prstGeom>
          <a:solidFill>
            <a:srgbClr val="DCEAE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58521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73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struggles are common — but invisible.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Stress, anxiety, depression, and burnout affect a large share of students and employees. Most people don’t realize how much they’re carrying until it becomes severe.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help usually means booking a professional consultation — a real barrier for early, casual self-awareness.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1417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0" y="19659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report symptoms of burnout at some point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0" y="29260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0" y="34747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experience a diagnosable mental health condition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0" y="4434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49834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 is the single biggest lever for prevention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0" y="5989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— for context, not clinical citations.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C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companion that notices what a person might not say out loud — and gently points them toward support, early.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606040" cy="32918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788920"/>
            <a:ext cx="731520" cy="731520"/>
          </a:xfrm>
          <a:prstGeom prst="ellipse">
            <a:avLst/>
          </a:prstGeom>
          <a:solidFill>
            <a:srgbClr val="2F6F6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998" y="288401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703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49808" y="416052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facial expressions during a short guided conversation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2468880"/>
            <a:ext cx="2606040" cy="32918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2788920"/>
            <a:ext cx="731520" cy="731520"/>
          </a:xfrm>
          <a:prstGeom prst="ellipse">
            <a:avLst/>
          </a:prstGeom>
          <a:solidFill>
            <a:srgbClr val="2F6F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070" y="288401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0712" y="3703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611880" y="416052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on tone, pace, and tension in someone’s voice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72784" y="2468880"/>
            <a:ext cx="2606040" cy="32918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0044" y="2788920"/>
            <a:ext cx="731520" cy="731520"/>
          </a:xfrm>
          <a:prstGeom prst="ellipse">
            <a:avLst/>
          </a:prstGeom>
          <a:solidFill>
            <a:srgbClr val="2F6F6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142" y="288401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3703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473952" y="416052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brief, validated-style questionnaire on mood &amp; worry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34856" y="2468880"/>
            <a:ext cx="2606040" cy="32918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72116" y="2788920"/>
            <a:ext cx="731520" cy="731520"/>
          </a:xfrm>
          <a:prstGeom prst="ellipse">
            <a:avLst/>
          </a:prstGeom>
          <a:solidFill>
            <a:srgbClr val="17343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214" y="2884018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3703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336024" y="416052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all into one score and a few doable next steps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 flow in, one score flows out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3291840"/>
          </a:xfrm>
          <a:prstGeom prst="rect">
            <a:avLst>
              <a:gd name="adj" fmla="val 3846"/>
            </a:avLst>
          </a:prstGeom>
          <a:solidFill>
            <a:srgbClr val="2F6F68"/>
          </a:solidFill>
          <a:ln/>
        </p:spPr>
      </p:sp>
      <p:sp>
        <p:nvSpPr>
          <p:cNvPr id="5" name="Shape 3"/>
          <p:cNvSpPr/>
          <p:nvPr/>
        </p:nvSpPr>
        <p:spPr>
          <a:xfrm>
            <a:off x="1353312" y="2194560"/>
            <a:ext cx="768096" cy="768096"/>
          </a:xfrm>
          <a:prstGeom prst="ellipse">
            <a:avLst/>
          </a:prstGeom>
          <a:solidFill>
            <a:srgbClr val="1734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164" y="2294412"/>
            <a:ext cx="568391" cy="5683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mic during a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 guided chat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828800"/>
            <a:ext cx="2651760" cy="3291840"/>
          </a:xfrm>
          <a:prstGeom prst="rect">
            <a:avLst>
              <a:gd name="adj" fmla="val 3448"/>
            </a:avLst>
          </a:prstGeom>
          <a:solidFill>
            <a:srgbClr val="84B59F"/>
          </a:solidFill>
          <a:ln/>
        </p:spPr>
      </p:sp>
      <p:sp>
        <p:nvSpPr>
          <p:cNvPr id="10" name="Shape 7"/>
          <p:cNvSpPr/>
          <p:nvPr/>
        </p:nvSpPr>
        <p:spPr>
          <a:xfrm>
            <a:off x="4279392" y="2194560"/>
            <a:ext cx="768096" cy="768096"/>
          </a:xfrm>
          <a:prstGeom prst="ellipse">
            <a:avLst/>
          </a:prstGeom>
          <a:solidFill>
            <a:srgbClr val="1734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244" y="2294412"/>
            <a:ext cx="568391" cy="5683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74720" y="3703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reads facial cues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reads voice cues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0" y="1828800"/>
            <a:ext cx="2377440" cy="3291840"/>
          </a:xfrm>
          <a:prstGeom prst="rect">
            <a:avLst>
              <a:gd name="adj" fmla="val 3846"/>
            </a:avLst>
          </a:prstGeom>
          <a:solidFill>
            <a:srgbClr val="D9A441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5472" y="2194560"/>
            <a:ext cx="768096" cy="768096"/>
          </a:xfrm>
          <a:prstGeom prst="ellipse">
            <a:avLst/>
          </a:prstGeom>
          <a:solidFill>
            <a:srgbClr val="8A631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324" y="2294412"/>
            <a:ext cx="568391" cy="5683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37960" y="37033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visual + voice +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signals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828800"/>
            <a:ext cx="2377440" cy="3291840"/>
          </a:xfrm>
          <a:prstGeom prst="rect">
            <a:avLst>
              <a:gd name="adj" fmla="val 3846"/>
            </a:avLst>
          </a:prstGeom>
          <a:solidFill>
            <a:srgbClr val="173430"/>
          </a:solidFill>
          <a:ln/>
        </p:spPr>
      </p:sp>
      <p:sp>
        <p:nvSpPr>
          <p:cNvPr id="20" name="Shape 15"/>
          <p:cNvSpPr/>
          <p:nvPr/>
        </p:nvSpPr>
        <p:spPr>
          <a:xfrm>
            <a:off x="9994392" y="2194560"/>
            <a:ext cx="768096" cy="768096"/>
          </a:xfrm>
          <a:prstGeom prst="ellipse">
            <a:avLst/>
          </a:prstGeom>
          <a:solidFill>
            <a:srgbClr val="17343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244" y="2294412"/>
            <a:ext cx="568391" cy="5683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26880" y="37033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Well-Being Score +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suggestions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2985516" y="3355848"/>
            <a:ext cx="292608" cy="237744"/>
          </a:xfrm>
          <a:prstGeom prst="rightArrow">
            <a:avLst/>
          </a:prstGeom>
          <a:solidFill>
            <a:srgbClr val="5C6B65"/>
          </a:solidFill>
          <a:ln/>
        </p:spPr>
      </p:sp>
      <p:sp>
        <p:nvSpPr>
          <p:cNvPr id="25" name="Shape 19"/>
          <p:cNvSpPr/>
          <p:nvPr/>
        </p:nvSpPr>
        <p:spPr>
          <a:xfrm>
            <a:off x="6048756" y="3355848"/>
            <a:ext cx="292608" cy="237744"/>
          </a:xfrm>
          <a:prstGeom prst="rightArrow">
            <a:avLst/>
          </a:prstGeom>
          <a:solidFill>
            <a:srgbClr val="5C6B65"/>
          </a:solidFill>
          <a:ln/>
        </p:spPr>
      </p:sp>
      <p:sp>
        <p:nvSpPr>
          <p:cNvPr id="26" name="Shape 20"/>
          <p:cNvSpPr/>
          <p:nvPr/>
        </p:nvSpPr>
        <p:spPr>
          <a:xfrm>
            <a:off x="8837676" y="3355848"/>
            <a:ext cx="292608" cy="237744"/>
          </a:xfrm>
          <a:prstGeom prst="rightArrow">
            <a:avLst/>
          </a:prstGeom>
          <a:solidFill>
            <a:srgbClr val="5C6B65"/>
          </a:solidFill>
          <a:ln/>
        </p:spPr>
      </p:sp>
      <p:sp>
        <p:nvSpPr>
          <p:cNvPr id="27" name="Text 21"/>
          <p:cNvSpPr/>
          <p:nvPr/>
        </p:nvSpPr>
        <p:spPr>
          <a:xfrm>
            <a:off x="548640" y="5349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Backbones: ResNet/EfficientNet (visual)  ·  BiLSTM/Transformer (speech)  ·  MFCCs, pitch, energy, tempo as inputs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steps, start to finish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868680"/>
          </a:xfrm>
          <a:prstGeom prst="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96796"/>
            <a:ext cx="475488" cy="475488"/>
          </a:xfrm>
          <a:prstGeom prst="ellipse">
            <a:avLst/>
          </a:prstGeom>
          <a:solidFill>
            <a:srgbClr val="2F6F6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967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&amp; Preparation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474720" cy="868680"/>
          </a:xfrm>
          <a:prstGeom prst="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802636"/>
            <a:ext cx="475488" cy="475488"/>
          </a:xfrm>
          <a:prstGeom prst="ellipse">
            <a:avLst/>
          </a:prstGeom>
          <a:solidFill>
            <a:srgbClr val="2F6F6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8026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606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Emotion Model Development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3474720" cy="868680"/>
          </a:xfrm>
          <a:prstGeom prst="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808476"/>
            <a:ext cx="475488" cy="475488"/>
          </a:xfrm>
          <a:prstGeom prst="ellipse">
            <a:avLst/>
          </a:prstGeom>
          <a:solidFill>
            <a:srgbClr val="2F6F68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8084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118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Emotion Model Development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1600200"/>
            <a:ext cx="3474720" cy="868680"/>
          </a:xfrm>
          <a:prstGeom prst="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6552" y="1796796"/>
            <a:ext cx="475488" cy="475488"/>
          </a:xfrm>
          <a:prstGeom prst="ellipse">
            <a:avLst/>
          </a:prstGeom>
          <a:solidFill>
            <a:srgbClr val="2F6F68"/>
          </a:solidFill>
          <a:ln/>
        </p:spPr>
      </p:sp>
      <p:sp>
        <p:nvSpPr>
          <p:cNvPr id="18" name="Text 16"/>
          <p:cNvSpPr/>
          <p:nvPr/>
        </p:nvSpPr>
        <p:spPr>
          <a:xfrm>
            <a:off x="4416552" y="17967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16002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Questionnaire Design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2606040"/>
            <a:ext cx="3474720" cy="868680"/>
          </a:xfrm>
          <a:prstGeom prst="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21" name="Shape 19"/>
          <p:cNvSpPr/>
          <p:nvPr/>
        </p:nvSpPr>
        <p:spPr>
          <a:xfrm>
            <a:off x="4416552" y="2802636"/>
            <a:ext cx="475488" cy="475488"/>
          </a:xfrm>
          <a:prstGeom prst="ellipse">
            <a:avLst/>
          </a:prstGeom>
          <a:solidFill>
            <a:srgbClr val="2F6F68"/>
          </a:solidFill>
          <a:ln/>
        </p:spPr>
      </p:sp>
      <p:sp>
        <p:nvSpPr>
          <p:cNvPr id="22" name="Text 20"/>
          <p:cNvSpPr/>
          <p:nvPr/>
        </p:nvSpPr>
        <p:spPr>
          <a:xfrm>
            <a:off x="4416552" y="28026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2606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Feature Extraction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51960" y="3611880"/>
            <a:ext cx="3474720" cy="868680"/>
          </a:xfrm>
          <a:prstGeom prst="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25" name="Shape 23"/>
          <p:cNvSpPr/>
          <p:nvPr/>
        </p:nvSpPr>
        <p:spPr>
          <a:xfrm>
            <a:off x="4416552" y="3808476"/>
            <a:ext cx="475488" cy="475488"/>
          </a:xfrm>
          <a:prstGeom prst="ellipse">
            <a:avLst/>
          </a:prstGeom>
          <a:solidFill>
            <a:srgbClr val="2F6F68"/>
          </a:solidFill>
          <a:ln/>
        </p:spPr>
      </p:sp>
      <p:sp>
        <p:nvSpPr>
          <p:cNvPr id="26" name="Text 24"/>
          <p:cNvSpPr/>
          <p:nvPr/>
        </p:nvSpPr>
        <p:spPr>
          <a:xfrm>
            <a:off x="4416552" y="38084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36118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&amp; Well-Being Scoring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955280" y="1600200"/>
            <a:ext cx="3474720" cy="868680"/>
          </a:xfrm>
          <a:prstGeom prst="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29" name="Shape 27"/>
          <p:cNvSpPr/>
          <p:nvPr/>
        </p:nvSpPr>
        <p:spPr>
          <a:xfrm>
            <a:off x="8119872" y="1796796"/>
            <a:ext cx="475488" cy="475488"/>
          </a:xfrm>
          <a:prstGeom prst="ellipse">
            <a:avLst/>
          </a:prstGeom>
          <a:solidFill>
            <a:srgbClr val="2F6F68"/>
          </a:solidFill>
          <a:ln/>
        </p:spPr>
      </p:sp>
      <p:sp>
        <p:nvSpPr>
          <p:cNvPr id="30" name="Text 28"/>
          <p:cNvSpPr/>
          <p:nvPr/>
        </p:nvSpPr>
        <p:spPr>
          <a:xfrm>
            <a:off x="8119872" y="17967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32520" y="16002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 Engine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955280" y="2606040"/>
            <a:ext cx="3474720" cy="868680"/>
          </a:xfrm>
          <a:prstGeom prst="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33" name="Shape 31"/>
          <p:cNvSpPr/>
          <p:nvPr/>
        </p:nvSpPr>
        <p:spPr>
          <a:xfrm>
            <a:off x="8119872" y="2802636"/>
            <a:ext cx="475488" cy="475488"/>
          </a:xfrm>
          <a:prstGeom prst="ellipse">
            <a:avLst/>
          </a:prstGeom>
          <a:solidFill>
            <a:srgbClr val="2F6F68"/>
          </a:solidFill>
          <a:ln/>
        </p:spPr>
      </p:sp>
      <p:sp>
        <p:nvSpPr>
          <p:cNvPr id="34" name="Text 32"/>
          <p:cNvSpPr/>
          <p:nvPr/>
        </p:nvSpPr>
        <p:spPr>
          <a:xfrm>
            <a:off x="8119872" y="28026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32520" y="2606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User Interface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955280" y="3611880"/>
            <a:ext cx="3474720" cy="868680"/>
          </a:xfrm>
          <a:prstGeom prst="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3808476"/>
            <a:ext cx="475488" cy="475488"/>
          </a:xfrm>
          <a:prstGeom prst="ellipse">
            <a:avLst/>
          </a:prstGeom>
          <a:solidFill>
            <a:srgbClr val="2F6F68"/>
          </a:solidFill>
          <a:ln/>
        </p:spPr>
      </p:sp>
      <p:sp>
        <p:nvSpPr>
          <p:cNvPr id="38" name="Text 36"/>
          <p:cNvSpPr/>
          <p:nvPr/>
        </p:nvSpPr>
        <p:spPr>
          <a:xfrm>
            <a:off x="8119872" y="38084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32520" y="36118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Performance Analysis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synthetic user sessions — built to test the full pipeline before real data collection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65836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responses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23360" y="17830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× 19 columns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5120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4144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 features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0" y="244144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× 30 columns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5120640" cy="65836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9981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/ voice features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23360" y="309981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× 31 columns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51206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5818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master dataset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375818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× 83 columns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645152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synthetic? Real facial video + voice + questionnaire data needs informed consent and ethics review — out of scope for this prototype phase. A hidden per-user “distress level” drives realistically correlated signals across all three modalities.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126480" y="169164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Faces &amp; Voices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754880"/>
          </a:xfrm>
          <a:prstGeom prst="rect">
            <a:avLst>
              <a:gd name="adj" fmla="val 1923"/>
            </a:avLst>
          </a:prstGeom>
          <a:solidFill>
            <a:srgbClr val="DCEAE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77485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91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 Emotion Model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/ EfficientNet-style CNN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micro-expressions, eye contact, blink rate, facial tension, smiling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7-way emotion mix (neutral, happy, sad, angry, fear, surprise, disgust)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synthetic features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5212080" cy="4754880"/>
          </a:xfrm>
          <a:prstGeom prst="rect">
            <a:avLst>
              <a:gd name="adj" fmla="val 1923"/>
            </a:avLst>
          </a:prstGeom>
          <a:solidFill>
            <a:srgbClr val="DCEAE3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730" y="177485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691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Emotion Model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46520" y="25146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/ Transformer-style classifier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MFCCs, pitch, energy, pause ratio, jitter, shimmer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6-way tone mix (calm, stressed, sad, anxious, neutral, energetic)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46520" y="4434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800" dirty="0"/>
          </a:p>
        </p:txBody>
      </p:sp>
      <p:sp>
        <p:nvSpPr>
          <p:cNvPr id="16" name="Text 12"/>
          <p:cNvSpPr/>
          <p:nvPr/>
        </p:nvSpPr>
        <p:spPr>
          <a:xfrm>
            <a:off x="6446520" y="5166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synthetic features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Signals Into a Score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C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blend of all three modalities, tuned to lean on the most reliable signal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48463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Well-Being Score → Risk Category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0" y="18288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1947672"/>
            <a:ext cx="274320" cy="274320"/>
          </a:xfrm>
          <a:prstGeom prst="ellipse">
            <a:avLst/>
          </a:prstGeom>
          <a:solidFill>
            <a:srgbClr val="B85B4C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Concern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2514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2514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2633472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Concern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32004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3200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55–74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0" y="3319272"/>
            <a:ext cx="274320" cy="27432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3200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Concern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0" y="38862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8862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75–100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0" y="400507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0" y="3886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Guiding, Not Just Scoring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comes with a short, doable next step — never just a number.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84B5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600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current routine — it’s working. Try noting one thing you’re grateful for today.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134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Concern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31343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10-minute breathing exercise, or a short walk outside, can lift mood and energy.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8A631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2666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Concern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02666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talking to a counselor. Break big tasks into smaller, manageable steps.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B85B4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3989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7398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always surface crisis-support resources first — before any generic tip.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1463040"/>
            <a:ext cx="3566160" cy="4754880"/>
          </a:xfrm>
          <a:prstGeom prst="rect">
            <a:avLst>
              <a:gd name="adj" fmla="val 3846"/>
            </a:avLst>
          </a:prstGeom>
          <a:solidFill>
            <a:srgbClr val="173430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Check-in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15400" y="2286000"/>
            <a:ext cx="1645920" cy="164592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22860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22960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well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0" y="4617720"/>
            <a:ext cx="3017520" cy="18288"/>
          </a:xfrm>
          <a:prstGeom prst="rect">
            <a:avLst/>
          </a:prstGeom>
          <a:solidFill>
            <a:srgbClr val="3E5C55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48006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47183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mindfulness for 10 min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52578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51755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relaxing walk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0" y="57150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56327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one gratitude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55280" y="6355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+ a plain-language web check-in page are both included in the deliverables.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held-out synthetic test data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1051560"/>
          </a:xfrm>
          <a:prstGeom prst="rect">
            <a:avLst>
              <a:gd name="adj" fmla="val 8696"/>
            </a:avLst>
          </a:prstGeom>
          <a:solidFill>
            <a:srgbClr val="DCEAE3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810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points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8181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(score)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2532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0–100 scale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589520" y="2971800"/>
            <a:ext cx="4023360" cy="1051560"/>
          </a:xfrm>
          <a:prstGeom prst="rect">
            <a:avLst>
              <a:gd name="adj" fmla="val 8696"/>
            </a:avLst>
          </a:prstGeom>
          <a:solidFill>
            <a:srgbClr val="DCEAE3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30449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8181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3767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sessions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89520" y="4206240"/>
            <a:ext cx="4023360" cy="1051560"/>
          </a:xfrm>
          <a:prstGeom prst="rect">
            <a:avLst>
              <a:gd name="adj" fmla="val 8696"/>
            </a:avLst>
          </a:prstGeom>
          <a:solidFill>
            <a:srgbClr val="DCEAE3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4279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8181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18120" y="5001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Delivered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476756"/>
            <a:ext cx="338328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1371600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Emotion Recognition Module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35040" y="1417320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1476756"/>
            <a:ext cx="338328" cy="338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56832" y="1371600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Emotion Analysis Module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112264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171700"/>
            <a:ext cx="338328" cy="3383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2066544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Assessment Questionnaire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035040" y="2112264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171700"/>
            <a:ext cx="338328" cy="3383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56832" y="2066544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Feature Fusion Model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2807208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2866644"/>
            <a:ext cx="338328" cy="33832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70432" y="2761488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Well-Being Scoring Engine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035040" y="2807208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476" y="2866644"/>
            <a:ext cx="338328" cy="3383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56832" y="2761488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 System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548640" y="3502152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" y="3561588"/>
            <a:ext cx="338328" cy="3383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70432" y="3456432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Trained Models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035040" y="3502152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4476" y="3561588"/>
            <a:ext cx="338328" cy="33832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656832" y="3456432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+ Web Check-in Page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" y="4256532"/>
            <a:ext cx="338328" cy="33832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170432" y="415137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/ Report</a:t>
            </a:r>
            <a:endParaRPr lang="en-US" sz="1300" dirty="0"/>
          </a:p>
        </p:txBody>
      </p:sp>
      <p:sp>
        <p:nvSpPr>
          <p:cNvPr id="30" name="Shape 19"/>
          <p:cNvSpPr/>
          <p:nvPr/>
        </p:nvSpPr>
        <p:spPr>
          <a:xfrm>
            <a:off x="6035040" y="4197096"/>
            <a:ext cx="457200" cy="457200"/>
          </a:xfrm>
          <a:prstGeom prst="ellipse">
            <a:avLst/>
          </a:prstGeom>
          <a:solidFill>
            <a:srgbClr val="DCEAE3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4476" y="4256532"/>
            <a:ext cx="338328" cy="33832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656832" y="4151376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PPT Presentation (this deck)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2F6F6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D9A441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diagnosis —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moment to notice.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Talk2Mind is a self-awareness tool, built to make the first step toward support a little easier to take.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Vidwan  ·  Talk2Mind Project Team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2026-07-10T03:36:04Z</dcterms:created>
  <dcterms:modified xsi:type="dcterms:W3CDTF">2026-07-10T03:36:04Z</dcterms:modified>
</cp:coreProperties>
</file>